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2" Type="http://schemas.openxmlformats.org/officeDocument/2006/relationships/slide" Target="slides/slide7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9fd32dc4a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9fd32dc4a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9fd32dc4ac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9fd32dc4ac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9fd32dc4ac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9fd32dc4ac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9fd32dc4ac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9fd32dc4ac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9fd32dc4ac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9fd32dc4ac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9fd32dc4ac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9fd32dc4ac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jpg"/><Relationship Id="rId4" Type="http://schemas.openxmlformats.org/officeDocument/2006/relationships/image" Target="../media/image9.png"/><Relationship Id="rId5" Type="http://schemas.openxmlformats.org/officeDocument/2006/relationships/image" Target="../media/image4.png"/><Relationship Id="rId6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 rotWithShape="1">
          <a:blip r:embed="rId3">
            <a:alphaModFix/>
          </a:blip>
          <a:srcRect b="0" l="0" r="0" t="14478"/>
          <a:stretch/>
        </p:blipFill>
        <p:spPr>
          <a:xfrm>
            <a:off x="-55798" y="0"/>
            <a:ext cx="9255585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>
            <p:ph type="ctrTitle"/>
          </p:nvPr>
        </p:nvSpPr>
        <p:spPr>
          <a:xfrm>
            <a:off x="311700" y="744575"/>
            <a:ext cx="8520600" cy="2052600"/>
          </a:xfrm>
          <a:prstGeom prst="rect">
            <a:avLst/>
          </a:prstGeom>
          <a:solidFill>
            <a:srgbClr val="F9FBFD">
              <a:alpha val="71070"/>
            </a:srgbClr>
          </a:solidFill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REVUE 1 de projet ProCom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Hybridation Chalutier</a:t>
            </a:r>
            <a:endParaRPr/>
          </a:p>
        </p:txBody>
      </p:sp>
      <p:sp>
        <p:nvSpPr>
          <p:cNvPr id="56" name="Google Shape;56;p13"/>
          <p:cNvSpPr txBox="1"/>
          <p:nvPr>
            <p:ph idx="1" type="subTitle"/>
          </p:nvPr>
        </p:nvSpPr>
        <p:spPr>
          <a:xfrm>
            <a:off x="311700" y="2998525"/>
            <a:ext cx="8520600" cy="792600"/>
          </a:xfrm>
          <a:prstGeom prst="rect">
            <a:avLst/>
          </a:prstGeom>
          <a:solidFill>
            <a:srgbClr val="F9FBFD">
              <a:alpha val="54750"/>
            </a:srgbClr>
          </a:solidFill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dk1"/>
                </a:solidFill>
              </a:rPr>
              <a:t>Léa GROUSSEAU, Marie-Joséphine EDOA MBONO, Florent BERGÉ, Cédric LÉGER, Mathieu HUON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Contexte</a:t>
            </a:r>
            <a:endParaRPr/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297225"/>
            <a:ext cx="5949300" cy="162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 sz="1200">
                <a:solidFill>
                  <a:schemeClr val="dk1"/>
                </a:solidFill>
              </a:rPr>
              <a:t>Le projet</a:t>
            </a:r>
            <a:r>
              <a:rPr b="1" lang="fr" sz="1200">
                <a:solidFill>
                  <a:schemeClr val="dk1"/>
                </a:solidFill>
              </a:rPr>
              <a:t> Hybridation Bretagne Atlantique </a:t>
            </a:r>
            <a:r>
              <a:rPr lang="fr" sz="1200">
                <a:solidFill>
                  <a:schemeClr val="dk1"/>
                </a:solidFill>
              </a:rPr>
              <a:t>a pour objectif de r</a:t>
            </a:r>
            <a:r>
              <a:rPr lang="fr" sz="1200">
                <a:solidFill>
                  <a:schemeClr val="dk1"/>
                </a:solidFill>
              </a:rPr>
              <a:t>éduire la consommation de carburant des chalutiers par l’hybridation de leur propulsion.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fr" sz="1200">
                <a:solidFill>
                  <a:schemeClr val="dk1"/>
                </a:solidFill>
              </a:rPr>
              <a:t>Enjeu économique (coût du pétrole) et environnementaux (objectif 2035).</a:t>
            </a:r>
            <a:br>
              <a:rPr lang="fr" sz="1200">
                <a:solidFill>
                  <a:schemeClr val="dk1"/>
                </a:solidFill>
              </a:rPr>
            </a:b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fr" sz="1200">
                <a:solidFill>
                  <a:schemeClr val="dk1"/>
                </a:solidFill>
              </a:rPr>
              <a:t>Inspiration du secteur automobile : ajout d’une propulsion électrique via batterie à un moteur thermique.</a:t>
            </a:r>
            <a:endParaRPr sz="1200"/>
          </a:p>
        </p:txBody>
      </p:sp>
      <p:pic>
        <p:nvPicPr>
          <p:cNvPr id="63" name="Google Shape;6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000" y="1152475"/>
            <a:ext cx="2578200" cy="176594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64" name="Google Shape;64;p14"/>
          <p:cNvSpPr txBox="1"/>
          <p:nvPr/>
        </p:nvSpPr>
        <p:spPr>
          <a:xfrm>
            <a:off x="311700" y="3053175"/>
            <a:ext cx="8166000" cy="144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fr" sz="1200">
                <a:solidFill>
                  <a:schemeClr val="dk1"/>
                </a:solidFill>
              </a:rPr>
              <a:t>Phase 1 (2023-2024)</a:t>
            </a:r>
            <a:r>
              <a:rPr lang="fr" sz="1200">
                <a:solidFill>
                  <a:schemeClr val="dk1"/>
                </a:solidFill>
              </a:rPr>
              <a:t> : étude de faisabilité avec un navire instrumenté (25 capteurs, 80 mesures) pour analyser les flux énergétiques et dimensionner l’architecture hybride.</a:t>
            </a:r>
            <a:endParaRPr sz="12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fr" sz="1200">
                <a:solidFill>
                  <a:srgbClr val="FF0000"/>
                </a:solidFill>
              </a:rPr>
              <a:t>Notre projet</a:t>
            </a:r>
            <a:endParaRPr i="1" sz="1200">
              <a:solidFill>
                <a:srgbClr val="FF0000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fr" sz="1200">
                <a:solidFill>
                  <a:schemeClr val="dk1"/>
                </a:solidFill>
              </a:rPr>
              <a:t>Prochaine étape (2026)</a:t>
            </a:r>
            <a:r>
              <a:rPr lang="fr" sz="1200">
                <a:solidFill>
                  <a:schemeClr val="dk1"/>
                </a:solidFill>
              </a:rPr>
              <a:t> : mise en œuvre de l’hybridation effective du navire (appel à projet en cours).</a:t>
            </a:r>
            <a:endParaRPr sz="1200">
              <a:solidFill>
                <a:schemeClr val="dk2"/>
              </a:solidFill>
            </a:endParaRPr>
          </a:p>
        </p:txBody>
      </p:sp>
      <p:cxnSp>
        <p:nvCxnSpPr>
          <p:cNvPr id="65" name="Google Shape;65;p14"/>
          <p:cNvCxnSpPr/>
          <p:nvPr/>
        </p:nvCxnSpPr>
        <p:spPr>
          <a:xfrm flipH="1" rot="10800000">
            <a:off x="311700" y="3798904"/>
            <a:ext cx="359400" cy="15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Objectifs</a:t>
            </a:r>
            <a:endParaRPr/>
          </a:p>
        </p:txBody>
      </p:sp>
      <p:sp>
        <p:nvSpPr>
          <p:cNvPr id="71" name="Google Shape;71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fr">
                <a:solidFill>
                  <a:schemeClr val="dk1"/>
                </a:solidFill>
              </a:rPr>
              <a:t>Un modèle numérique du navire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fr">
                <a:solidFill>
                  <a:schemeClr val="dk1"/>
                </a:solidFill>
              </a:rPr>
              <a:t>Un algorithme de contrôle – commande de rejet de la houle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fr">
                <a:solidFill>
                  <a:schemeClr val="dk1"/>
                </a:solidFill>
              </a:rPr>
              <a:t>Un rapport décrivant ses livrables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1000"/>
              </a:spcAft>
              <a:buClr>
                <a:schemeClr val="dk1"/>
              </a:buClr>
              <a:buSzPts val="1800"/>
              <a:buChar char="●"/>
            </a:pPr>
            <a:r>
              <a:rPr lang="fr">
                <a:solidFill>
                  <a:schemeClr val="dk1"/>
                </a:solidFill>
              </a:rPr>
              <a:t>Des données de simulation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72" name="Google Shape;72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76562" y="1824913"/>
            <a:ext cx="807224" cy="807224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48710" y="1017713"/>
            <a:ext cx="1435064" cy="8072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Planification</a:t>
            </a:r>
            <a:endParaRPr/>
          </a:p>
        </p:txBody>
      </p:sp>
      <p:sp>
        <p:nvSpPr>
          <p:cNvPr id="79" name="Google Shape;79;p16"/>
          <p:cNvSpPr txBox="1"/>
          <p:nvPr>
            <p:ph idx="1" type="body"/>
          </p:nvPr>
        </p:nvSpPr>
        <p:spPr>
          <a:xfrm>
            <a:off x="607275" y="1152475"/>
            <a:ext cx="8225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dk1"/>
                </a:solidFill>
              </a:rPr>
              <a:t>Créer un modèle longitudinal du chalutier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dk1"/>
                </a:solidFill>
              </a:rPr>
              <a:t>Créer un modèle de la houle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dk1"/>
                </a:solidFill>
              </a:rPr>
              <a:t>Formuler le problème de commande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dk1"/>
                </a:solidFill>
              </a:rPr>
              <a:t>S’appuyer sur les travaux réalisés avec PSA pour faire la loi de commande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fr">
                <a:solidFill>
                  <a:schemeClr val="dk1"/>
                </a:solidFill>
              </a:rPr>
              <a:t>Validation et estimation de la consommation électrique et thermique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80" name="Google Shape;80;p16"/>
          <p:cNvSpPr/>
          <p:nvPr/>
        </p:nvSpPr>
        <p:spPr>
          <a:xfrm>
            <a:off x="151150" y="1169975"/>
            <a:ext cx="335400" cy="335400"/>
          </a:xfrm>
          <a:prstGeom prst="ellipse">
            <a:avLst/>
          </a:prstGeom>
          <a:solidFill>
            <a:srgbClr val="93C47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1</a:t>
            </a:r>
            <a:endParaRPr/>
          </a:p>
        </p:txBody>
      </p:sp>
      <p:sp>
        <p:nvSpPr>
          <p:cNvPr id="81" name="Google Shape;81;p16"/>
          <p:cNvSpPr/>
          <p:nvPr/>
        </p:nvSpPr>
        <p:spPr>
          <a:xfrm>
            <a:off x="151150" y="1657625"/>
            <a:ext cx="335400" cy="335400"/>
          </a:xfrm>
          <a:prstGeom prst="ellipse">
            <a:avLst/>
          </a:prstGeom>
          <a:solidFill>
            <a:srgbClr val="93C47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2</a:t>
            </a:r>
            <a:endParaRPr/>
          </a:p>
        </p:txBody>
      </p:sp>
      <p:sp>
        <p:nvSpPr>
          <p:cNvPr id="82" name="Google Shape;82;p16"/>
          <p:cNvSpPr/>
          <p:nvPr/>
        </p:nvSpPr>
        <p:spPr>
          <a:xfrm>
            <a:off x="151150" y="2145275"/>
            <a:ext cx="335400" cy="335400"/>
          </a:xfrm>
          <a:prstGeom prst="ellipse">
            <a:avLst/>
          </a:prstGeom>
          <a:solidFill>
            <a:srgbClr val="93C47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3</a:t>
            </a:r>
            <a:endParaRPr/>
          </a:p>
        </p:txBody>
      </p:sp>
      <p:sp>
        <p:nvSpPr>
          <p:cNvPr id="83" name="Google Shape;83;p16"/>
          <p:cNvSpPr txBox="1"/>
          <p:nvPr/>
        </p:nvSpPr>
        <p:spPr>
          <a:xfrm>
            <a:off x="4811100" y="923275"/>
            <a:ext cx="6258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7000">
                <a:solidFill>
                  <a:schemeClr val="dk1"/>
                </a:solidFill>
              </a:rPr>
              <a:t>}</a:t>
            </a:r>
            <a:endParaRPr sz="7000">
              <a:solidFill>
                <a:schemeClr val="dk1"/>
              </a:solidFill>
            </a:endParaRPr>
          </a:p>
        </p:txBody>
      </p:sp>
      <p:sp>
        <p:nvSpPr>
          <p:cNvPr id="84" name="Google Shape;84;p16"/>
          <p:cNvSpPr/>
          <p:nvPr/>
        </p:nvSpPr>
        <p:spPr>
          <a:xfrm>
            <a:off x="151150" y="2632925"/>
            <a:ext cx="335400" cy="335400"/>
          </a:xfrm>
          <a:prstGeom prst="ellipse">
            <a:avLst/>
          </a:prstGeom>
          <a:solidFill>
            <a:srgbClr val="93C47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4</a:t>
            </a:r>
            <a:endParaRPr/>
          </a:p>
        </p:txBody>
      </p:sp>
      <p:sp>
        <p:nvSpPr>
          <p:cNvPr id="85" name="Google Shape;85;p16"/>
          <p:cNvSpPr/>
          <p:nvPr/>
        </p:nvSpPr>
        <p:spPr>
          <a:xfrm>
            <a:off x="151150" y="3549875"/>
            <a:ext cx="335400" cy="335400"/>
          </a:xfrm>
          <a:prstGeom prst="ellipse">
            <a:avLst/>
          </a:prstGeom>
          <a:solidFill>
            <a:srgbClr val="93C47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5</a:t>
            </a:r>
            <a:endParaRPr/>
          </a:p>
        </p:txBody>
      </p:sp>
      <p:sp>
        <p:nvSpPr>
          <p:cNvPr id="86" name="Google Shape;86;p16"/>
          <p:cNvSpPr txBox="1"/>
          <p:nvPr/>
        </p:nvSpPr>
        <p:spPr>
          <a:xfrm>
            <a:off x="5289275" y="1384475"/>
            <a:ext cx="38550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rgbClr val="3C78D8"/>
                </a:solidFill>
              </a:rPr>
              <a:t>En parallèle, objectif mi-novembre</a:t>
            </a:r>
            <a:endParaRPr sz="1800">
              <a:solidFill>
                <a:srgbClr val="3C78D8"/>
              </a:solidFill>
            </a:endParaRPr>
          </a:p>
        </p:txBody>
      </p:sp>
      <p:sp>
        <p:nvSpPr>
          <p:cNvPr id="87" name="Google Shape;87;p16"/>
          <p:cNvSpPr txBox="1"/>
          <p:nvPr/>
        </p:nvSpPr>
        <p:spPr>
          <a:xfrm>
            <a:off x="4977375" y="2078225"/>
            <a:ext cx="38550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rgbClr val="3C78D8"/>
                </a:solidFill>
              </a:rPr>
              <a:t>20 novembre</a:t>
            </a:r>
            <a:endParaRPr sz="1800">
              <a:solidFill>
                <a:srgbClr val="3C78D8"/>
              </a:solidFill>
            </a:endParaRPr>
          </a:p>
        </p:txBody>
      </p:sp>
      <p:sp>
        <p:nvSpPr>
          <p:cNvPr id="88" name="Google Shape;88;p16"/>
          <p:cNvSpPr txBox="1"/>
          <p:nvPr/>
        </p:nvSpPr>
        <p:spPr>
          <a:xfrm>
            <a:off x="4977375" y="3024425"/>
            <a:ext cx="27036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rgbClr val="3C78D8"/>
                </a:solidFill>
              </a:rPr>
              <a:t>19 décembre</a:t>
            </a:r>
            <a:endParaRPr sz="1800">
              <a:solidFill>
                <a:srgbClr val="3C78D8"/>
              </a:solidFill>
            </a:endParaRPr>
          </a:p>
        </p:txBody>
      </p:sp>
      <p:sp>
        <p:nvSpPr>
          <p:cNvPr id="89" name="Google Shape;89;p16"/>
          <p:cNvSpPr txBox="1"/>
          <p:nvPr/>
        </p:nvSpPr>
        <p:spPr>
          <a:xfrm>
            <a:off x="4977375" y="3970625"/>
            <a:ext cx="27036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rgbClr val="3C78D8"/>
                </a:solidFill>
              </a:rPr>
              <a:t>couran</a:t>
            </a:r>
            <a:r>
              <a:rPr lang="fr" sz="1800">
                <a:solidFill>
                  <a:srgbClr val="3C78D8"/>
                </a:solidFill>
              </a:rPr>
              <a:t>t janvier</a:t>
            </a:r>
            <a:endParaRPr sz="1800">
              <a:solidFill>
                <a:srgbClr val="3C78D8"/>
              </a:solidFill>
            </a:endParaRPr>
          </a:p>
        </p:txBody>
      </p:sp>
      <p:cxnSp>
        <p:nvCxnSpPr>
          <p:cNvPr id="90" name="Google Shape;90;p16"/>
          <p:cNvCxnSpPr>
            <a:stCxn id="80" idx="4"/>
            <a:endCxn id="81" idx="0"/>
          </p:cNvCxnSpPr>
          <p:nvPr/>
        </p:nvCxnSpPr>
        <p:spPr>
          <a:xfrm>
            <a:off x="318850" y="1505375"/>
            <a:ext cx="0" cy="152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1" name="Google Shape;91;p16"/>
          <p:cNvCxnSpPr>
            <a:stCxn id="81" idx="4"/>
            <a:endCxn id="82" idx="0"/>
          </p:cNvCxnSpPr>
          <p:nvPr/>
        </p:nvCxnSpPr>
        <p:spPr>
          <a:xfrm>
            <a:off x="318850" y="1993025"/>
            <a:ext cx="0" cy="152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2" name="Google Shape;92;p16"/>
          <p:cNvCxnSpPr>
            <a:stCxn id="82" idx="4"/>
            <a:endCxn id="84" idx="0"/>
          </p:cNvCxnSpPr>
          <p:nvPr/>
        </p:nvCxnSpPr>
        <p:spPr>
          <a:xfrm>
            <a:off x="318850" y="2480675"/>
            <a:ext cx="0" cy="152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3" name="Google Shape;93;p16"/>
          <p:cNvCxnSpPr>
            <a:stCxn id="84" idx="4"/>
            <a:endCxn id="85" idx="0"/>
          </p:cNvCxnSpPr>
          <p:nvPr/>
        </p:nvCxnSpPr>
        <p:spPr>
          <a:xfrm>
            <a:off x="318850" y="2968325"/>
            <a:ext cx="0" cy="581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Organisation de l’équipe</a:t>
            </a:r>
            <a:endParaRPr/>
          </a:p>
        </p:txBody>
      </p:sp>
      <p:sp>
        <p:nvSpPr>
          <p:cNvPr id="99" name="Google Shape;99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Chef de projet : Florent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/>
              <a:t>Scribe : Léa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/>
              <a:t>Communication : Mathieu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0" name="Google Shape;10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33475" y="2631338"/>
            <a:ext cx="6677025" cy="1190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Outils collaboratifs</a:t>
            </a:r>
            <a:endParaRPr/>
          </a:p>
        </p:txBody>
      </p:sp>
      <p:pic>
        <p:nvPicPr>
          <p:cNvPr id="106" name="Google Shape;106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030302"/>
            <a:ext cx="3337500" cy="1752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8"/>
          <p:cNvPicPr preferRelativeResize="0"/>
          <p:nvPr/>
        </p:nvPicPr>
        <p:blipFill rotWithShape="1">
          <a:blip r:embed="rId4">
            <a:alphaModFix/>
          </a:blip>
          <a:srcRect b="21014" l="35010" r="35088" t="21554"/>
          <a:stretch/>
        </p:blipFill>
        <p:spPr>
          <a:xfrm>
            <a:off x="1625550" y="3287850"/>
            <a:ext cx="1220700" cy="12309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493997" y="1017725"/>
            <a:ext cx="2509087" cy="1411376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8"/>
          <p:cNvSpPr txBox="1"/>
          <p:nvPr/>
        </p:nvSpPr>
        <p:spPr>
          <a:xfrm>
            <a:off x="369850" y="2767624"/>
            <a:ext cx="3114900" cy="4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1"/>
                </a:solidFill>
              </a:rPr>
              <a:t>Espace de travail collaboratif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10" name="Google Shape;110;p18"/>
          <p:cNvSpPr txBox="1"/>
          <p:nvPr/>
        </p:nvSpPr>
        <p:spPr>
          <a:xfrm>
            <a:off x="4955475" y="2458975"/>
            <a:ext cx="4122000" cy="6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1"/>
                </a:solidFill>
              </a:rPr>
              <a:t>Réunions Teams quand le présentiel n’est pas possible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11" name="Google Shape;111;p18"/>
          <p:cNvSpPr txBox="1"/>
          <p:nvPr/>
        </p:nvSpPr>
        <p:spPr>
          <a:xfrm>
            <a:off x="0" y="4570725"/>
            <a:ext cx="4471800" cy="6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1"/>
                </a:solidFill>
              </a:rPr>
              <a:t>Groupe entre les membres de l’équipe</a:t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112" name="Google Shape;112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473325" y="3235913"/>
            <a:ext cx="1220700" cy="1220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8"/>
          <p:cNvSpPr txBox="1"/>
          <p:nvPr/>
        </p:nvSpPr>
        <p:spPr>
          <a:xfrm>
            <a:off x="4572000" y="4456625"/>
            <a:ext cx="4471800" cy="6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1"/>
                </a:solidFill>
              </a:rPr>
              <a:t>Mails réguliers avec l’encadrant avec tous les membres du groupe en copie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Point de passage et évaluation de l’avancement du projet</a:t>
            </a:r>
            <a:endParaRPr/>
          </a:p>
        </p:txBody>
      </p:sp>
      <p:sp>
        <p:nvSpPr>
          <p:cNvPr id="119" name="Google Shape;119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/>
              <a:t>-Réunion environ un mardi sur deux avec Mr Claveau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/>
              <a:t>-Point méthodologique (6 novembre)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/>
              <a:t>-Revue de projet (20 novembre)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fr"/>
              <a:t>-Soutenance de projet (19 janvier)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